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atrick Hand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796" y="1118815"/>
            <a:ext cx="7936409" cy="377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PRCP-1009: Cellphone Price Prediction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375196" y="1798067"/>
            <a:ext cx="8393609" cy="241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Helping Bob's mobile company price phones using machine learning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3796" y="2209428"/>
            <a:ext cx="3892748" cy="832172"/>
          </a:xfrm>
          <a:prstGeom prst="roundRect">
            <a:avLst>
              <a:gd name="adj" fmla="val 7619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9470" y="2365102"/>
            <a:ext cx="3581400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Project ID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59470" y="2644378"/>
            <a:ext cx="3581400" cy="241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PRCP-1009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47456" y="2209428"/>
            <a:ext cx="3892748" cy="832172"/>
          </a:xfrm>
          <a:prstGeom prst="roundRect">
            <a:avLst>
              <a:gd name="adj" fmla="val 7619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3130" y="2365102"/>
            <a:ext cx="3581400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Problem Type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03130" y="2644378"/>
            <a:ext cx="3581400" cy="241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Multi-class Classification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796" y="3192512"/>
            <a:ext cx="3892748" cy="832172"/>
          </a:xfrm>
          <a:prstGeom prst="roundRect">
            <a:avLst>
              <a:gd name="adj" fmla="val 7619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9470" y="3348186"/>
            <a:ext cx="3581400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Dataset Size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59470" y="3627462"/>
            <a:ext cx="3581400" cy="241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2,000 mobile phones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47456" y="3192512"/>
            <a:ext cx="3892748" cy="832172"/>
          </a:xfrm>
          <a:prstGeom prst="roundRect">
            <a:avLst>
              <a:gd name="adj" fmla="val 7619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3130" y="3348186"/>
            <a:ext cx="3581400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Target Variable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3130" y="3627462"/>
            <a:ext cx="3581400" cy="241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Price Range (0–3)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796" y="865956"/>
            <a:ext cx="7936409" cy="377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Business Problem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5151" y="1469752"/>
            <a:ext cx="4001393" cy="2807717"/>
          </a:xfrm>
          <a:prstGeom prst="roundRect">
            <a:avLst>
              <a:gd name="adj" fmla="val 3871"/>
            </a:avLst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646063" y="1620664"/>
            <a:ext cx="3699570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Situation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6063" y="1960290"/>
            <a:ext cx="3699570" cy="1826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Bob has launched a new mobile phone company and faces a critical challenge: established competitors — Apple, Samsung, Vivo, Oppo, and Xiaomi — already know how to price their devices based on hardware specifications. Bob doesn't have that institutional knowledge yet.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He does, however, have data: a dataset of existing phones with their full specification profiles and the price categories they belong to.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60863" y="1620664"/>
            <a:ext cx="3784104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Goal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60863" y="1960290"/>
            <a:ext cx="3784104" cy="724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Use that data to build a machine learning model that can predict which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price range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 phone belongs to, based on its specs alone — giving Bob a data-driven pricing engine from day one.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60863" y="2835846"/>
            <a:ext cx="3784104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Why This Matters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60863" y="3175471"/>
            <a:ext cx="3784104" cy="96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Without a systematic approach, Bob risks underpricing premium devices (lost revenue) or overpricing budget phones (lost customers). A reliable prediction model eliminates guesswork and levels the playing field against larger competitors.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796" y="458614"/>
            <a:ext cx="7936409" cy="342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Why a Classification Problem, Not Regression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03796" y="1048569"/>
            <a:ext cx="7936409" cy="41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common first instinct is to predict an exact price — ₹15,000 vs ₹25,000. But that framing is both harder to solve and less useful for Bob's actual decision-making. Instead, we predict a </a:t>
            </a:r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price category</a:t>
            </a:r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which maps directly to how phones are marketed and positioned in the market.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796" y="1605037"/>
            <a:ext cx="3968204" cy="5471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569" y="2276177"/>
            <a:ext cx="3694658" cy="170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0 — Low Cost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0569" y="2521446"/>
            <a:ext cx="3694658" cy="20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Entry-level devices, budget segment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05037"/>
            <a:ext cx="3968204" cy="5471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8773" y="2276177"/>
            <a:ext cx="3694658" cy="170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 — Medium Cost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708773" y="2521446"/>
            <a:ext cx="3694658" cy="20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Mid-range, value-for-money segment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96" y="2866727"/>
            <a:ext cx="3968204" cy="54716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0569" y="3537868"/>
            <a:ext cx="3694658" cy="170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 — High Cost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40569" y="3783137"/>
            <a:ext cx="3694658" cy="20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Premium, feature-rich devices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66727"/>
            <a:ext cx="3968204" cy="54716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08773" y="3537868"/>
            <a:ext cx="3694658" cy="170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 — Very High Cost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4708773" y="3783137"/>
            <a:ext cx="3694658" cy="20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Flagship, top-of-the-line segment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603796" y="4267870"/>
            <a:ext cx="7936409" cy="41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Because the output is one of four discrete categories, this is a </a:t>
            </a:r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multi-class classification problem</a:t>
            </a:r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Classification models are well-suited to this task and produce outputs that map directly to actionable pricing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796" y="415156"/>
            <a:ext cx="7936409" cy="35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Dataset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03796" y="1100658"/>
            <a:ext cx="3795564" cy="17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796" y="1410221"/>
            <a:ext cx="3795564" cy="877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2,000 mobile phones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with </a:t>
            </a:r>
            <a:pPr algn="l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20 specification features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and 1 target variable (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price_range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). No missing values, no duplicate records, and classes are well balanced across all four price categories — an ideal foundation for training reliable models.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796" y="2420392"/>
            <a:ext cx="3795564" cy="17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3796" y="2746474"/>
            <a:ext cx="1831404" cy="849957"/>
          </a:xfrm>
          <a:prstGeom prst="roundRect">
            <a:avLst>
              <a:gd name="adj" fmla="val 6993"/>
            </a:avLst>
          </a:prstGeom>
          <a:solidFill>
            <a:srgbClr val="F7F7F7"/>
          </a:solidFill>
          <a:ln w="190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4307" y="2906985"/>
            <a:ext cx="1510382" cy="17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4307" y="3216548"/>
            <a:ext cx="151038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7880" y="2746474"/>
            <a:ext cx="1831479" cy="849957"/>
          </a:xfrm>
          <a:prstGeom prst="roundRect">
            <a:avLst>
              <a:gd name="adj" fmla="val 6993"/>
            </a:avLst>
          </a:prstGeom>
          <a:solidFill>
            <a:srgbClr val="F7F7F7"/>
          </a:solidFill>
          <a:ln w="190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8392" y="2906985"/>
            <a:ext cx="1510457" cy="17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Duplicates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28392" y="3216548"/>
            <a:ext cx="151045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796" y="3729112"/>
            <a:ext cx="3795564" cy="849957"/>
          </a:xfrm>
          <a:prstGeom prst="roundRect">
            <a:avLst>
              <a:gd name="adj" fmla="val 6993"/>
            </a:avLst>
          </a:prstGeom>
          <a:solidFill>
            <a:srgbClr val="F7F7F7"/>
          </a:solidFill>
          <a:ln w="190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4307" y="3889623"/>
            <a:ext cx="3474541" cy="17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Class Balance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4307" y="4199186"/>
            <a:ext cx="3474541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Well balanced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49403" y="1100658"/>
            <a:ext cx="3795564" cy="17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Feature Categories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9403" y="1426741"/>
            <a:ext cx="3795564" cy="84995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986114" y="1587252"/>
            <a:ext cx="3398341" cy="17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Performance Specs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86114" y="1896814"/>
            <a:ext cx="3398341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Battery power, RAM, internal memory, processor cores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403" y="2409379"/>
            <a:ext cx="3795564" cy="106933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986114" y="2569890"/>
            <a:ext cx="3398341" cy="17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Display &amp; Camera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986114" y="2879452"/>
            <a:ext cx="3398341" cy="43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Screen resolution (px height &amp; width), pixel density, front &amp; rear camera megapixels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9403" y="3611389"/>
            <a:ext cx="3795564" cy="84995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986114" y="3771900"/>
            <a:ext cx="3398341" cy="17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Binary Features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986114" y="4081463"/>
            <a:ext cx="3398341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Bluetooth, WiFi, dual SIM, 3G, 4G, touch screen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796" y="930027"/>
            <a:ext cx="7936409" cy="377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Task 1: Exploratory Data Analysis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03796" y="1609279"/>
            <a:ext cx="7936409" cy="483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Before building any model, we conducted a thorough EDA to understand the data's structure, distributions, and relationships. EDA ensures we trust the data before trusting any model built on it.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3796" y="2262188"/>
            <a:ext cx="301898" cy="18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3796" y="2499643"/>
            <a:ext cx="2544812" cy="1905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4"/>
          <p:cNvSpPr/>
          <p:nvPr/>
        </p:nvSpPr>
        <p:spPr>
          <a:xfrm>
            <a:off x="603796" y="2613199"/>
            <a:ext cx="2544812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Types &amp; Distributions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3796" y="2892475"/>
            <a:ext cx="2544812" cy="96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Studied the data type and value distribution of every feature. Identified continuous vs. binary variables and checked for outliers that could distort model training.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9520" y="2262188"/>
            <a:ext cx="301898" cy="18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02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9520" y="2499643"/>
            <a:ext cx="2544887" cy="1905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Text 8"/>
          <p:cNvSpPr/>
          <p:nvPr/>
        </p:nvSpPr>
        <p:spPr>
          <a:xfrm>
            <a:off x="3299520" y="2613199"/>
            <a:ext cx="2544887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Correlation Analysis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99520" y="2892475"/>
            <a:ext cx="2544887" cy="97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Checked the statistical correlation between each specification feature and the target variable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price_range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This revealed which specs are the strongest price signals.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95318" y="2262188"/>
            <a:ext cx="301898" cy="18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95318" y="2499643"/>
            <a:ext cx="2544887" cy="1905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" name="Text 12"/>
          <p:cNvSpPr/>
          <p:nvPr/>
        </p:nvSpPr>
        <p:spPr>
          <a:xfrm>
            <a:off x="5995318" y="2613199"/>
            <a:ext cx="2544887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Key Finding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95318" y="2892475"/>
            <a:ext cx="2544887" cy="1207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RAM, battery power, and screen resolution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showed the strongest correlation with price range — making them the most predictive features in the dataset and the primary drivers of model performance.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796" y="423267"/>
            <a:ext cx="7936409" cy="306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Task 2: Building the Models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03796" y="929208"/>
            <a:ext cx="793640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Six classification algorithms were trained and evaluated head-to-head. Each model was assessed on Accuracy, Precision, Recall, F1-Score, and Confusion Matrix to ensure a comprehensive view of performance — not just a single headline number.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03796" y="1496467"/>
            <a:ext cx="381863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Algorithms Compared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03796" y="1761827"/>
            <a:ext cx="1859459" cy="408087"/>
          </a:xfrm>
          <a:prstGeom prst="roundRect">
            <a:avLst>
              <a:gd name="adj" fmla="val 12624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193" y="1889224"/>
            <a:ext cx="160466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2895" y="1761827"/>
            <a:ext cx="1859533" cy="408087"/>
          </a:xfrm>
          <a:prstGeom prst="roundRect">
            <a:avLst>
              <a:gd name="adj" fmla="val 12624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0292" y="1889224"/>
            <a:ext cx="160473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Decision Tree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796" y="2269554"/>
            <a:ext cx="1859459" cy="408087"/>
          </a:xfrm>
          <a:prstGeom prst="roundRect">
            <a:avLst>
              <a:gd name="adj" fmla="val 12624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193" y="2396951"/>
            <a:ext cx="160466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2895" y="2269554"/>
            <a:ext cx="1859533" cy="408087"/>
          </a:xfrm>
          <a:prstGeom prst="roundRect">
            <a:avLst>
              <a:gd name="adj" fmla="val 12624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0292" y="2396951"/>
            <a:ext cx="160473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KNN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796" y="2777282"/>
            <a:ext cx="1859459" cy="408087"/>
          </a:xfrm>
          <a:prstGeom prst="roundRect">
            <a:avLst>
              <a:gd name="adj" fmla="val 12624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193" y="2904679"/>
            <a:ext cx="160466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SVM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2895" y="2777282"/>
            <a:ext cx="1859533" cy="408087"/>
          </a:xfrm>
          <a:prstGeom prst="roundRect">
            <a:avLst>
              <a:gd name="adj" fmla="val 12624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0292" y="2904679"/>
            <a:ext cx="160473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26335" y="1496467"/>
            <a:ext cx="381863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Evaluation Framework</a:t>
            </a:r>
            <a:endParaRPr lang="en-US" sz="9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6335" y="1761827"/>
            <a:ext cx="3818632" cy="88232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920407" y="1898749"/>
            <a:ext cx="3487638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Confusion Matrix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920407" y="2151683"/>
            <a:ext cx="348763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Reveals whether errors occur between adjacent price tiers (less costly) or distant tiers (serious pricing error).</a:t>
            </a:r>
            <a:endParaRPr lang="en-US" sz="9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6335" y="2743795"/>
            <a:ext cx="3818632" cy="88232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920407" y="2880717"/>
            <a:ext cx="3487638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Ensemble Methods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920407" y="3133651"/>
            <a:ext cx="348763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Random Forest and Gradient Boosting combine many decision trees, reducing overfitting and delivering the most robust results overall.</a:t>
            </a:r>
            <a:endParaRPr lang="en-US" sz="9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6335" y="3725763"/>
            <a:ext cx="3818632" cy="88232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20407" y="3862685"/>
            <a:ext cx="3487638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Production Recommendation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920407" y="4115619"/>
            <a:ext cx="348763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best-performing model across all metrics was selected and recommended for deployment in Bob's pricing workflow.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796" y="486296"/>
            <a:ext cx="7936409" cy="300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Task 3: Feature Importance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03796" y="978694"/>
            <a:ext cx="8393609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Feature importance analysis — drawn from the Random Forest model's built-in importance scores — tells Bob exactly what customers are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"paying for"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when they move up a price tier.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17178" y="1259458"/>
            <a:ext cx="3994696" cy="3397672"/>
          </a:xfrm>
          <a:prstGeom prst="roundRect">
            <a:avLst>
              <a:gd name="adj" fmla="val 2549"/>
            </a:avLst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637431" y="1355303"/>
            <a:ext cx="3754189" cy="15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Highly Important Features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37431" y="1613520"/>
            <a:ext cx="270644" cy="270644"/>
          </a:xfrm>
          <a:prstGeom prst="roundRect">
            <a:avLst>
              <a:gd name="adj" fmla="val 18668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3920" y="1654820"/>
            <a:ext cx="3387700" cy="15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3920" y="1901056"/>
            <a:ext cx="3387700" cy="345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single strongest predictor of price range. Higher RAM consistently maps to higher price tiers.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7431" y="2438623"/>
            <a:ext cx="270644" cy="270644"/>
          </a:xfrm>
          <a:prstGeom prst="roundRect">
            <a:avLst>
              <a:gd name="adj" fmla="val 18668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3920" y="2479923"/>
            <a:ext cx="3387700" cy="15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Battery Power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3920" y="2726159"/>
            <a:ext cx="3387700" cy="345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Larger battery capacity is a key differentiator between budget and premium segments.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7431" y="3263726"/>
            <a:ext cx="270644" cy="270644"/>
          </a:xfrm>
          <a:prstGeom prst="roundRect">
            <a:avLst>
              <a:gd name="adj" fmla="val 18668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3920" y="3305026"/>
            <a:ext cx="3387700" cy="15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Screen Resolution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3920" y="3551262"/>
            <a:ext cx="3387700" cy="345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Display quality (pixel dimensions) strongly signals the device's price category.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7431" y="4088829"/>
            <a:ext cx="270644" cy="270644"/>
          </a:xfrm>
          <a:prstGeom prst="roundRect">
            <a:avLst>
              <a:gd name="adj" fmla="val 18668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3920" y="4130129"/>
            <a:ext cx="3387700" cy="15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Internal Memory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3920" y="4376365"/>
            <a:ext cx="3387700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Storage capacity is a reliable indicator of where a phone sits in the market.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23507" y="1355303"/>
            <a:ext cx="3821460" cy="15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Least Important Features</a:t>
            </a:r>
            <a:endParaRPr lang="en-US" sz="9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8602" y="1617204"/>
            <a:ext cx="180380" cy="1803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114404" y="1613520"/>
            <a:ext cx="3430563" cy="15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Bluetooth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114404" y="1859756"/>
            <a:ext cx="3430563" cy="345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Nearly universal across all modern phones — provides no meaningful price signal.</a:t>
            </a:r>
            <a:endParaRPr lang="en-US" sz="9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8602" y="2401007"/>
            <a:ext cx="180380" cy="1803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14404" y="2397323"/>
            <a:ext cx="3430563" cy="15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WiFi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114404" y="2643560"/>
            <a:ext cx="3430563" cy="345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Standard on virtually every device in the dataset — not a differentiating factor.</a:t>
            </a:r>
            <a:endParaRPr lang="en-US" sz="9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8602" y="3184810"/>
            <a:ext cx="180380" cy="1803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14404" y="3181127"/>
            <a:ext cx="3430563" cy="15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Dual SIM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114404" y="3427363"/>
            <a:ext cx="3430563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Widely available across all price tiers — does not help distinguish categories.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723507" y="3708127"/>
            <a:ext cx="3821460" cy="751433"/>
          </a:xfrm>
          <a:prstGeom prst="roundRect">
            <a:avLst>
              <a:gd name="adj" fmla="val 6724"/>
            </a:avLst>
          </a:prstGeom>
          <a:solidFill>
            <a:srgbClr val="E6E6E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3760" y="3881810"/>
            <a:ext cx="150316" cy="12025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114330" y="3824436"/>
            <a:ext cx="3310384" cy="518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Features that are ubiquitous across all price tiers carry no discriminative power for classification — their near-constant presence makes them statistically invisible to the model.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796" y="440308"/>
            <a:ext cx="793640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Business Impact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03796" y="1104305"/>
            <a:ext cx="839360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model delivers value well beyond a technical exercise — it gives Bob a practical competitive tool across multiple dimensions of his business.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796" y="1504727"/>
            <a:ext cx="371475" cy="3714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8106" y="1504727"/>
            <a:ext cx="196921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Better Pricing Decisions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58106" y="1778198"/>
            <a:ext cx="1969219" cy="1179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Data-driven pricing replaces guesswork. Every new phone can be assigned a price tier based on its spec profile before it ever hits the market.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0161" y="1504727"/>
            <a:ext cx="371475" cy="3714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64471" y="1504727"/>
            <a:ext cx="196929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Smarter Product Planning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864471" y="1778198"/>
            <a:ext cx="1969294" cy="1179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Know exactly which hardware upgrades — more RAM, bigger battery — justify moving a device into a higher price tier and commanding a premium.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6600" y="1504727"/>
            <a:ext cx="371475" cy="3714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70911" y="1504727"/>
            <a:ext cx="196921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Competitive Positioning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570911" y="1778198"/>
            <a:ext cx="1969219" cy="943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Benchmark Bob's devices against Apple, Samsung, and others using the same spec-to-price logic the market already uses.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796" y="3250183"/>
            <a:ext cx="371475" cy="3714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58106" y="3250183"/>
            <a:ext cx="196921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Protected Margins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158106" y="3523655"/>
            <a:ext cx="1969219" cy="943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Fewer pricing errors mean fewer instances of underpricing premium devices or overpricing budget ones — directly protecting profitability.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10161" y="3250183"/>
            <a:ext cx="371475" cy="3714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864471" y="3250183"/>
            <a:ext cx="196929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Faster Product Launches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3864471" y="3523655"/>
            <a:ext cx="1969294" cy="1179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Automated price-range prediction accelerates the go-to-market process, reducing the time from spec finalization to launch-ready pricing.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796" y="501253"/>
            <a:ext cx="793640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Challenges &amp; Solutions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03796" y="1165250"/>
            <a:ext cx="839360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Every real-world ML project surfaces practical obstacles. Below are the key challenges encountered in this project and how each was resolved.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3796" y="1565672"/>
            <a:ext cx="7936409" cy="3076575"/>
          </a:xfrm>
          <a:prstGeom prst="roundRect">
            <a:avLst>
              <a:gd name="adj" fmla="val 202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796" y="1993702"/>
            <a:ext cx="7936409" cy="92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3796" y="2655243"/>
            <a:ext cx="7936409" cy="92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3796" y="3316784"/>
            <a:ext cx="7936409" cy="92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3796" y="3978325"/>
            <a:ext cx="7936409" cy="92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633" y="1570434"/>
            <a:ext cx="3170709" cy="42326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Text 8"/>
          <p:cNvSpPr/>
          <p:nvPr/>
        </p:nvSpPr>
        <p:spPr>
          <a:xfrm>
            <a:off x="757163" y="1662931"/>
            <a:ext cx="3330848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Challenge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79341" y="1570434"/>
            <a:ext cx="4756100" cy="42326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Text 10"/>
          <p:cNvSpPr/>
          <p:nvPr/>
        </p:nvSpPr>
        <p:spPr>
          <a:xfrm>
            <a:off x="3927872" y="1662931"/>
            <a:ext cx="491623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Solution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7163" y="2088579"/>
            <a:ext cx="3330848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Understanding technical specs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27872" y="2088579"/>
            <a:ext cx="4459039" cy="471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Studied the data dictionary thoroughly before beginning any analysis to ensure correct interpretation of each feature.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7163" y="2750121"/>
            <a:ext cx="3330848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Choosing the best model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27872" y="2750121"/>
            <a:ext cx="4459039" cy="471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Compared multiple algorithms across multiple evaluation metrics rather than relying on any single measure of performance.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57163" y="3411662"/>
            <a:ext cx="3330848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Interpreting feature importance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27872" y="3411662"/>
            <a:ext cx="4459039" cy="471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Leveraged Random Forest's built-in importance scores to produce a transparent, quantitative ranking of each feature's contribution.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57163" y="4073203"/>
            <a:ext cx="3330848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Accuracy alone isn't enough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27872" y="4073203"/>
            <a:ext cx="4459039" cy="471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Supplemented accuracy with precision, recall, F1-score, and confusion matrix analysis to capture the full picture of model behavior across all four price classes.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796" y="420291"/>
            <a:ext cx="7936409" cy="35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03796" y="1039490"/>
            <a:ext cx="7936409" cy="43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PRCP-1009 delivers a complete, production-ready machine learning solution for Bob's mobile company — transforming raw hardware specifications into reliable, data-backed pricing decisions.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3796" y="1627436"/>
            <a:ext cx="7936409" cy="2185095"/>
          </a:xfrm>
          <a:prstGeom prst="roundRect">
            <a:avLst>
              <a:gd name="adj" fmla="val 2720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558" y="1632198"/>
            <a:ext cx="3963442" cy="978098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6" name="Text 4"/>
          <p:cNvSpPr/>
          <p:nvPr/>
        </p:nvSpPr>
        <p:spPr>
          <a:xfrm>
            <a:off x="750019" y="1773659"/>
            <a:ext cx="3680520" cy="17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 Built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0019" y="2030090"/>
            <a:ext cx="3680520" cy="43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model that predicts phone price category directly from hardware specifications, trained and validated on 2,000 real-world devices.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632198"/>
            <a:ext cx="3963442" cy="978098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632198"/>
            <a:ext cx="19050" cy="978098"/>
          </a:xfrm>
          <a:prstGeom prst="roundRect">
            <a:avLst>
              <a:gd name="adj" fmla="val 312027"/>
            </a:avLst>
          </a:prstGeom>
          <a:solidFill>
            <a:srgbClr val="CCCCCC"/>
          </a:solidFill>
          <a:ln/>
        </p:spPr>
      </p:sp>
      <p:sp>
        <p:nvSpPr>
          <p:cNvPr id="10" name="Text 8"/>
          <p:cNvSpPr/>
          <p:nvPr/>
        </p:nvSpPr>
        <p:spPr>
          <a:xfrm>
            <a:off x="4713461" y="1773659"/>
            <a:ext cx="3680520" cy="17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Best Algorithm Selected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13461" y="2030090"/>
            <a:ext cx="3680520" cy="43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Six classification algorithms compared across five metrics. The top performer identified and recommended for production deployment.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558" y="2610296"/>
            <a:ext cx="3963442" cy="1197471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8558" y="2610296"/>
            <a:ext cx="3963442" cy="19050"/>
          </a:xfrm>
          <a:prstGeom prst="roundRect">
            <a:avLst>
              <a:gd name="adj" fmla="val 312027"/>
            </a:avLst>
          </a:prstGeom>
          <a:solidFill>
            <a:srgbClr val="CCCCCC"/>
          </a:solidFill>
          <a:ln/>
        </p:spPr>
      </p:sp>
      <p:sp>
        <p:nvSpPr>
          <p:cNvPr id="14" name="Text 12"/>
          <p:cNvSpPr/>
          <p:nvPr/>
        </p:nvSpPr>
        <p:spPr>
          <a:xfrm>
            <a:off x="750019" y="2751758"/>
            <a:ext cx="3680520" cy="17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Key Drivers Identified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0019" y="3008188"/>
            <a:ext cx="3680520" cy="43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RAM, battery power, and screen resolution confirmed as the biggest price-range drivers — giving Bob clear product design guidance.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610296"/>
            <a:ext cx="3963442" cy="1197471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610296"/>
            <a:ext cx="19050" cy="1197471"/>
          </a:xfrm>
          <a:prstGeom prst="roundRect">
            <a:avLst>
              <a:gd name="adj" fmla="val 312027"/>
            </a:avLst>
          </a:prstGeom>
          <a:solidFill>
            <a:srgbClr val="CCCCCC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2610296"/>
            <a:ext cx="3963442" cy="19050"/>
          </a:xfrm>
          <a:prstGeom prst="roundRect">
            <a:avLst>
              <a:gd name="adj" fmla="val 312027"/>
            </a:avLst>
          </a:prstGeom>
          <a:solidFill>
            <a:srgbClr val="CCCCCC"/>
          </a:solidFill>
          <a:ln/>
        </p:spPr>
      </p:sp>
      <p:sp>
        <p:nvSpPr>
          <p:cNvPr id="19" name="Text 17"/>
          <p:cNvSpPr/>
          <p:nvPr/>
        </p:nvSpPr>
        <p:spPr>
          <a:xfrm>
            <a:off x="4713461" y="2751758"/>
            <a:ext cx="3680520" cy="17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Practical Tool Delivered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3461" y="3008188"/>
            <a:ext cx="3680520" cy="658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Bob now has a data-backed engine for pricing decisions and product planning — a genuine competitive advantage against established players.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796" y="3961730"/>
            <a:ext cx="7936409" cy="761479"/>
          </a:xfrm>
          <a:prstGeom prst="roundRect">
            <a:avLst>
              <a:gd name="adj" fmla="val 7806"/>
            </a:avLst>
          </a:prstGeom>
          <a:solidFill>
            <a:srgbClr val="E6E6E6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57" y="4162351"/>
            <a:ext cx="176882" cy="14146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63600" y="4129757"/>
            <a:ext cx="7335143" cy="43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methodology applied here — EDA → multi-model comparison → feature importance → business translation — is a reusable framework applicable to future product lines and market expansions.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2026-07-26T06:56:55Z</dcterms:created>
  <dcterms:modified xsi:type="dcterms:W3CDTF">2026-07-26T06:56:55Z</dcterms:modified>
</cp:coreProperties>
</file>